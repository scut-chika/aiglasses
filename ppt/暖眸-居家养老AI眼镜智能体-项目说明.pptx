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 PPT 为项目说明文档，按「赛题理解→需求→设计→实现→验证→交付」组织。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本页为全文目录，共 10 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重点说明：作品不是泛问答，而是感知驱动 + 主动触发 + 记忆沉淀的原生智能体。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痛点围绕记忆衰退老人的三大困境，用户分层明确。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需求分 P0/P1：本次比赛完成 P0 三个闭环，P1 展示完整产品边界。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 P0 闭环是本次作品的核心，均给出边界（不做诊断、不做控制）。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F4–F7 展示完整产品边界；反功能设计是合规与产品成熟度的体现。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演示实录：09:12 提问 → 记忆库检索命中（置信度 0.9）→ 语音回答 → 09:13 复核更新。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演示实录：08:00 主动开口（时间触发 HIGH）→ 08:02 视觉确认 → 08:04 写入服药记录。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演示实录：08:50 场景触发 → 08:52 确认关火更新状态 → 08:54 再次出门只提醒天气。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安全守护是产品完整性加分项：双通道降误报，二次确认避免打扰。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原生智能体的核心证据：主动性 + 优先级 + 可回溯 + 规则兜底。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真实版架构：规则兜底保证可靠性，LLM 负责理解与表达，工具真实执行。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记忆是本作品的核心资产，同时把隐私设计成产品特性。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真实版强调可落地：用户只提供 AI Key，应用即可运行。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使用门槛低：不需要硬件、不需要部署云端，本机一条命令启动。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合规是评审必问项：数据从哪来、存哪里、谁能删、出问题谁负责。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验证材料：可运行代码 + 自动化测试 + 演示视频 + 在线仓库，评审可自行复现。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是本次初赛交付，后续版本保持闭环可验证原则。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结尾汇总交付物，强调可复现、可验证。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097280"/>
            <a:ext cx="128016" cy="4114800"/>
          </a:xfrm>
          <a:prstGeom prst="roundRect">
            <a:avLst>
              <a:gd name="adj" fmla="val 50000"/>
            </a:avLst>
          </a:prstGeom>
          <a:solidFill>
            <a:srgbClr val="6D8DFF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2588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E8EAF6"/>
                </a:solidFill>
                <a:latin typeface="Microsoft YaHei"/>
                <a:ea typeface="Microsoft YaHei"/>
              </a:rPr>
              <a:t>暖眸 · 居家养老 AI 眼镜智能体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2860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>
                <a:solidFill>
                  <a:srgbClr val="FFB454"/>
                </a:solidFill>
                <a:latin typeface="Microsoft YaHei"/>
                <a:ea typeface="Microsoft YaHei"/>
              </a:rPr>
              <a:t>—— 项目说明 ——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06324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E8EAF6"/>
                </a:solidFill>
                <a:latin typeface="Microsoft YaHei"/>
                <a:ea typeface="Microsoft YaHei"/>
              </a:rPr>
              <a:t>赛题方向：AI+眼镜 · 下一代个人智能终端原生智能体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47472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8B93B8"/>
                </a:solidFill>
                <a:latin typeface="Microsoft YaHei"/>
                <a:ea typeface="Microsoft YaHei"/>
              </a:rPr>
              <a:t>赛道：生活健康    重点验证：第一视角 / 语音交互 / 实时感知 / 随身陪伴 / 轻量反馈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16052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57D9A3"/>
                </a:solidFill>
                <a:latin typeface="Microsoft YaHei"/>
                <a:ea typeface="Microsoft YaHei"/>
              </a:rPr>
              <a:t>作品形式：真实可运行 Agent 应用（用户提供 AI Key 即可运行）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57200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B93B8"/>
                </a:solidFill>
                <a:latin typeface="Microsoft YaHei"/>
                <a:ea typeface="Microsoft YaHei"/>
              </a:rPr>
              <a:t>＋ Web 概念演示（无需 Key）＋ 演示视频脚本 ＋ 设计文档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8064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B93B8"/>
                </a:solidFill>
                <a:latin typeface="Microsoft YaHei"/>
                <a:ea typeface="Microsoft YaHei"/>
              </a:rPr>
              <a:t>队伍：＿＿＿＿＿＿   |   2026 年 8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6D8D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1945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B454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1206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E8EAF6"/>
                </a:solidFill>
                <a:latin typeface="Microsoft YaHei"/>
                <a:ea typeface="Microsoft YaHei"/>
              </a:rPr>
              <a:t>项目说明结构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5449824" cy="1005840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8132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6D8D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463040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E8EAF6"/>
                </a:solidFill>
                <a:latin typeface="Microsoft YaHei"/>
                <a:ea typeface="Microsoft YaHei"/>
              </a:rPr>
              <a:t>赛题理解与作品定位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847088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B93B8"/>
                </a:solidFill>
                <a:latin typeface="Microsoft YaHei"/>
                <a:ea typeface="Microsoft YaHei"/>
              </a:rPr>
              <a:t>五个验证点的落点、为什么是眼镜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325880"/>
            <a:ext cx="5449824" cy="1005840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48132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6D8D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0024" y="1463040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E8EAF6"/>
                </a:solidFill>
                <a:latin typeface="Microsoft YaHei"/>
                <a:ea typeface="Microsoft YaHei"/>
              </a:rPr>
              <a:t>目标用户与场景痛点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0024" y="1847088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B93B8"/>
                </a:solidFill>
                <a:latin typeface="Microsoft YaHei"/>
                <a:ea typeface="Microsoft YaHei"/>
              </a:rPr>
              <a:t>独居老人、子女、社区护工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496312"/>
            <a:ext cx="5449824" cy="1005840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6517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6D8D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633472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E8EAF6"/>
                </a:solidFill>
                <a:latin typeface="Microsoft YaHei"/>
                <a:ea typeface="Microsoft YaHei"/>
              </a:rPr>
              <a:t>需求分析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01752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B93B8"/>
                </a:solidFill>
                <a:latin typeface="Microsoft YaHei"/>
                <a:ea typeface="Microsoft YaHei"/>
              </a:rPr>
              <a:t>功能需求与非功能需求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2496312"/>
            <a:ext cx="5449824" cy="1005840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26517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6D8D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0024" y="2633472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E8EAF6"/>
                </a:solidFill>
                <a:latin typeface="Microsoft YaHei"/>
                <a:ea typeface="Microsoft YaHei"/>
              </a:rPr>
              <a:t>功能设计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0024" y="301752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B93B8"/>
                </a:solidFill>
                <a:latin typeface="Microsoft YaHei"/>
                <a:ea typeface="Microsoft YaHei"/>
              </a:rPr>
              <a:t>7 项能力、P0/P1 分层、明确不做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666744"/>
            <a:ext cx="5449824" cy="1005840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822191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6D8DFF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803904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E8EAF6"/>
                </a:solidFill>
                <a:latin typeface="Microsoft YaHei"/>
                <a:ea typeface="Microsoft YaHei"/>
              </a:rPr>
              <a:t>核心任务闭环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18795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B93B8"/>
                </a:solidFill>
                <a:latin typeface="Microsoft YaHei"/>
                <a:ea typeface="Microsoft YaHei"/>
              </a:rPr>
              <a:t>找物 / 用药 / 出门 / 跌倒 四个闭环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666744"/>
            <a:ext cx="5449824" cy="1005840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9944" y="3822191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6D8DFF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0024" y="3803904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E8EAF6"/>
                </a:solidFill>
                <a:latin typeface="Microsoft YaHei"/>
                <a:ea typeface="Microsoft YaHei"/>
              </a:rPr>
              <a:t>Agent 设计与架构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0024" y="418795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B93B8"/>
                </a:solidFill>
                <a:latin typeface="Microsoft YaHei"/>
                <a:ea typeface="Microsoft YaHei"/>
              </a:rPr>
              <a:t>主动触发引擎、分层架构、记忆系统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837176"/>
            <a:ext cx="5449824" cy="1005840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99262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6D8DFF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4974336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E8EAF6"/>
                </a:solidFill>
                <a:latin typeface="Microsoft YaHei"/>
                <a:ea typeface="Microsoft YaHei"/>
              </a:rPr>
              <a:t>技术实现与使用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5358383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B93B8"/>
                </a:solidFill>
                <a:latin typeface="Microsoft YaHei"/>
                <a:ea typeface="Microsoft YaHei"/>
              </a:rPr>
              <a:t>真实可用版 app/、配置、操作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81344" y="4837176"/>
            <a:ext cx="5449824" cy="1005840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9944" y="4992624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6D8DFF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0024" y="4974336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E8EAF6"/>
                </a:solidFill>
                <a:latin typeface="Microsoft YaHei"/>
                <a:ea typeface="Microsoft YaHei"/>
              </a:rPr>
              <a:t>数据与合规边界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0024" y="5358383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B93B8"/>
                </a:solidFill>
                <a:latin typeface="Microsoft YaHei"/>
                <a:ea typeface="Microsoft YaHei"/>
              </a:rPr>
              <a:t>授权、隐私、风险、行业边界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6007608"/>
            <a:ext cx="5449824" cy="1005840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6163056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6D8DFF"/>
                </a:solidFill>
                <a:latin typeface="Microsoft YaHei"/>
                <a:ea typeface="Microsoft YaHei"/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20" y="6144768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E8EAF6"/>
                </a:solidFill>
                <a:latin typeface="Microsoft YaHei"/>
                <a:ea typeface="Microsoft YaHei"/>
              </a:rPr>
              <a:t>Demo 与验证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6528816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B93B8"/>
                </a:solidFill>
                <a:latin typeface="Microsoft YaHei"/>
                <a:ea typeface="Microsoft YaHei"/>
              </a:rPr>
              <a:t>真实运行演示、端到端测试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81344" y="6007608"/>
            <a:ext cx="5449824" cy="1005840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6163056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6D8DFF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0024" y="6144768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E8EAF6"/>
                </a:solidFill>
                <a:latin typeface="Microsoft YaHei"/>
                <a:ea typeface="Microsoft YaHei"/>
              </a:rPr>
              <a:t>迭代计划与交付物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50024" y="6528816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B93B8"/>
                </a:solidFill>
                <a:latin typeface="Microsoft YaHei"/>
                <a:ea typeface="Microsoft YaHei"/>
              </a:rPr>
              <a:t>版本路线、参赛交付清单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6D8D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1945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B454"/>
                </a:solidFill>
                <a:latin typeface="Microsoft YaHei"/>
                <a:ea typeface="Microsoft YaHei"/>
              </a:rPr>
              <a:t>1 赛题理解与作品定位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1206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E8EAF6"/>
                </a:solidFill>
                <a:latin typeface="Microsoft YaHei"/>
                <a:ea typeface="Microsoft YaHei"/>
              </a:rPr>
              <a:t>AI+眼镜 · 下一代个人智能终端原生智能体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E8EAF6"/>
                </a:solidFill>
                <a:latin typeface="Microsoft YaHei"/>
                <a:ea typeface="Microsoft YaHei"/>
              </a:rPr>
              <a:t>五个重点验证点在作品中的落点：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9384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6D8DFF"/>
                </a:solidFill>
                <a:latin typeface="Microsoft YaHei"/>
                <a:ea typeface="Microsoft YaHei"/>
              </a:rPr>
              <a:t>第一视角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929384"/>
            <a:ext cx="8961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摄像头 / 照片作为感知输入，视觉模型识别“老人看到的”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95728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96312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57D9A3"/>
                </a:solidFill>
                <a:latin typeface="Microsoft YaHei"/>
                <a:ea typeface="Microsoft YaHei"/>
              </a:rPr>
              <a:t>语音交互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496312"/>
            <a:ext cx="8961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浏览器语音识别输入 + 语音朗读反馈，无需按键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62656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63239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5AB0FF"/>
                </a:solidFill>
                <a:latin typeface="Microsoft YaHei"/>
                <a:ea typeface="Microsoft YaHei"/>
              </a:rPr>
              <a:t>实时感知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063239"/>
            <a:ext cx="8961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场景 / 人物状态 / 可见物体逐轮识别，驱动决策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29584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30168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FFB454"/>
                </a:solidFill>
                <a:latin typeface="Microsoft YaHei"/>
                <a:ea typeface="Microsoft YaHei"/>
              </a:rPr>
              <a:t>随身陪伴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630168"/>
            <a:ext cx="8961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持续记忆 + 主动触发，越用越懂老人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96512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97096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FF6B81"/>
                </a:solidFill>
                <a:latin typeface="Microsoft YaHei"/>
                <a:ea typeface="Microsoft YaHei"/>
              </a:rPr>
              <a:t>轻量反馈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197096"/>
            <a:ext cx="8961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一句话语音反馈，低打扰原则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FFB454"/>
                </a:solidFill>
                <a:latin typeface="Microsoft YaHei"/>
                <a:ea typeface="Microsoft YaHei"/>
              </a:rPr>
              <a:t>作品定位：给独居老人配一个“看得见、记得住、靠得住”的随身智能体。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B93B8"/>
                </a:solidFill>
                <a:latin typeface="Microsoft YaHei"/>
                <a:ea typeface="Microsoft YaHei"/>
              </a:rPr>
              <a:t>为什么是眼镜：找物、确认服药、判断跌倒都需要第一视角——手机和手表做不到；语音符合老人习惯；免去主动操作。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6D8D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1945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B454"/>
                </a:solidFill>
                <a:latin typeface="Microsoft YaHei"/>
                <a:ea typeface="Microsoft YaHei"/>
              </a:rPr>
              <a:t>2 目标用户与场景痛点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1206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E8EAF6"/>
                </a:solidFill>
                <a:latin typeface="Microsoft YaHei"/>
                <a:ea typeface="Microsoft YaHei"/>
              </a:rPr>
              <a:t>60–80 岁独居 / 白天独居、轻度记忆衰退、生活基本自理的老人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704338" cy="283464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FF6B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遗忘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找不到老花镜、钥匙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忘记吃药、重复吃药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反复翻找、着急无助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4418" y="1554480"/>
            <a:ext cx="2704338" cy="283464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安全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跌倒无人知晓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出门忘带伞、忘关火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错过黄金救援时间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0196" y="1554480"/>
            <a:ext cx="2704338" cy="283464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孤独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子女不在身边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没人说话、情绪低落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子女打电话追问反而嫌烦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35974" y="1554480"/>
            <a:ext cx="2704338" cy="283464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子女焦虑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“吃药了吗？”式电话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问了嫌烦、不问担心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无法获得日常真实状态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6D8DFF"/>
                </a:solidFill>
                <a:latin typeface="Microsoft YaHei"/>
                <a:ea typeface="Microsoft YaHei"/>
              </a:rPr>
              <a:t>一级用户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663440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独居老人：轻度健忘、生活自理、不愿用手机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12064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6D8DFF"/>
                </a:solidFill>
                <a:latin typeface="Microsoft YaHei"/>
                <a:ea typeface="Microsoft YaHei"/>
              </a:rPr>
              <a:t>二级用户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5120640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子女（远程安心）与社区护工（批量服务）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57784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6D8DFF"/>
                </a:solidFill>
                <a:latin typeface="Microsoft YaHei"/>
                <a:ea typeface="Microsoft YaHei"/>
              </a:rPr>
              <a:t>典型画像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5577840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王奶奶，68 岁，独居，轻度健忘：常找不到老花镜、偶尔忘吃降压药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6D8D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1945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B454"/>
                </a:solidFill>
                <a:latin typeface="Microsoft YaHei"/>
                <a:ea typeface="Microsoft YaHei"/>
              </a:rPr>
              <a:t>3 需求分析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1206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E8EAF6"/>
                </a:solidFill>
                <a:latin typeface="Microsoft YaHei"/>
                <a:ea typeface="Microsoft YaHei"/>
              </a:rPr>
              <a:t>功能需求 + 非功能需求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E8EAF6"/>
                </a:solidFill>
                <a:latin typeface="Microsoft YaHei"/>
                <a:ea typeface="Microsoft YaHei"/>
              </a:rPr>
              <a:t>功能需求（P0 = 可演示闭环，P1 = 安全守护与陪伴）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584448" cy="914400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P0 · 记忆找物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语音提问 → 记忆检索 → 回答 → 复核更新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828800"/>
            <a:ext cx="3584448" cy="914400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P0 · 用药提醒+确认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时间触发 → 主动提醒 → 视觉确认 → 健康日志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828800"/>
            <a:ext cx="3584448" cy="914400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P0 · 出门提醒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场景触发 → 天气+室内状态联动提醒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80360"/>
            <a:ext cx="3584448" cy="914400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P1 · 跌倒检测求助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IMU+视觉双通道 → 二次确认 → 无回应联系家人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2880360"/>
            <a:ext cx="3584448" cy="914400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P1 · 主动陪伴 / 健康日报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低打扰陪伴，每晚给家人一条摘要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2880360"/>
            <a:ext cx="3584448" cy="914400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P1 · 一键紧急求助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镜腿长按 / 语音 SOS → 联系家人 + 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E8EAF6"/>
                </a:solidFill>
                <a:latin typeface="Microsoft YaHei"/>
                <a:ea typeface="Microsoft YaHei"/>
              </a:rPr>
              <a:t>非功能需求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72000"/>
            <a:ext cx="2615184" cy="118872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低打扰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只在值得开口时主动说话，有优先级评估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6704" y="4572000"/>
            <a:ext cx="2615184" cy="118872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可解释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每次决策可回溯：感知→触发→工具→反馈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4572000"/>
            <a:ext cx="2615184" cy="118872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隐私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本地优先、最小必要、可查看可删除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2832" y="4572000"/>
            <a:ext cx="2615184" cy="118872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可用性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无 Key 时给出明确引导；断网有兜底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6D8DFF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1945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B454"/>
                </a:solidFill>
                <a:latin typeface="Microsoft YaHei"/>
                <a:ea typeface="Microsoft YaHei"/>
              </a:rPr>
              <a:t>4 功能设计（一）核心功能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1206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E8EAF6"/>
                </a:solidFill>
                <a:latin typeface="Microsoft YaHei"/>
                <a:ea typeface="Microsoft YaHei"/>
              </a:rPr>
              <a:t>F1–F3：三个可演示闭环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1907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6D8DFF"/>
                </a:solidFill>
                <a:latin typeface="Microsoft YaHei"/>
                <a:ea typeface="Microsoft YaHei"/>
              </a:rPr>
              <a:t>F1 记忆找物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FFB454"/>
                </a:solidFill>
                <a:latin typeface="Microsoft YaHei"/>
                <a:ea typeface="Microsoft YaHei"/>
              </a:rPr>
              <a:t>被动响应 · 语音提问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737360"/>
            <a:ext cx="7406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检索第一视角记忆中的物品位置，随问随答；找到后复核更新置信度。记忆来源：日常自然“看到”的高价值物品，不做持续录像。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164592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57D9A3"/>
                </a:solidFill>
                <a:latin typeface="Microsoft YaHei"/>
                <a:ea typeface="Microsoft YaHei"/>
              </a:rPr>
              <a:t>P0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0896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7355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6D8DFF"/>
                </a:solidFill>
                <a:latin typeface="Microsoft YaHei"/>
                <a:ea typeface="Microsoft YaHei"/>
              </a:rPr>
              <a:t>F2 用药提醒+确认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FFB454"/>
                </a:solidFill>
                <a:latin typeface="Microsoft YaHei"/>
                <a:ea typeface="Microsoft YaHei"/>
              </a:rPr>
              <a:t>主动服务 · 时间触发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291839"/>
            <a:ext cx="7406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到点主动提醒；视觉识别药盒确认；确认后写入健康日志；10/30 分钟未确认逐级升级通知家人。不做剂量建议，不替代医嘱。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32004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57D9A3"/>
                </a:solidFill>
                <a:latin typeface="Microsoft YaHei"/>
                <a:ea typeface="Microsoft YaHei"/>
              </a:rPr>
              <a:t>P0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6344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28031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6D8DFF"/>
                </a:solidFill>
                <a:latin typeface="Microsoft YaHei"/>
                <a:ea typeface="Microsoft YaHei"/>
              </a:rPr>
              <a:t>F3 出门提醒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12079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FFB454"/>
                </a:solidFill>
                <a:latin typeface="Microsoft YaHei"/>
                <a:ea typeface="Microsoft YaHei"/>
              </a:rPr>
              <a:t>主动服务 · 场景触发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846320"/>
            <a:ext cx="7406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识别走向门口时，联动天气与室内状态（灶台火）提醒；确认关火后更新状态，避免重复唠叨。只提醒，不控制门锁/燃气。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47548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57D9A3"/>
                </a:solidFill>
                <a:latin typeface="Microsoft YaHei"/>
                <a:ea typeface="Microsoft YaHei"/>
              </a:rPr>
              <a:t>P0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6D8DFF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1945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B454"/>
                </a:solidFill>
                <a:latin typeface="Microsoft YaHei"/>
                <a:ea typeface="Microsoft YaHei"/>
              </a:rPr>
              <a:t>4 功能设计（二）扩展功能与反功能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1206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E8EAF6"/>
                </a:solidFill>
                <a:latin typeface="Microsoft YaHei"/>
                <a:ea typeface="Microsoft YaHei"/>
              </a:rPr>
              <a:t>F4–F7 安全守护与陪伴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49824" cy="1463040"/>
          </a:xfrm>
          <a:prstGeom prst="roundRect">
            <a:avLst>
              <a:gd name="adj" fmla="val 8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E8EAF6"/>
                </a:solidFill>
                <a:latin typeface="Microsoft YaHei"/>
                <a:ea typeface="Microsoft YaHei"/>
              </a:rPr>
              <a:t>F4 跌倒检测求助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FB454"/>
                </a:solidFill>
                <a:latin typeface="Microsoft YaHei"/>
                <a:ea typeface="Microsoft YaHei"/>
              </a:rPr>
              <a:t>异常触发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95728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B93B8"/>
                </a:solidFill>
                <a:latin typeface="Microsoft YaHei"/>
                <a:ea typeface="Microsoft YaHei"/>
              </a:rPr>
              <a:t>IMU 姿态突变 + 视觉人形倒地双通道确认；语音二次确认；无回应 15 秒自动联系家人，附定位+快照。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554480"/>
            <a:ext cx="5449824" cy="1463040"/>
          </a:xfrm>
          <a:prstGeom prst="roundRect">
            <a:avLst>
              <a:gd name="adj" fmla="val 8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6916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E8EAF6"/>
                </a:solidFill>
                <a:latin typeface="Microsoft YaHei"/>
                <a:ea typeface="Microsoft YaHei"/>
              </a:rPr>
              <a:t>F5 主动陪伴/播报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05740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FB454"/>
                </a:solidFill>
                <a:latin typeface="Microsoft YaHei"/>
                <a:ea typeface="Microsoft YaHei"/>
              </a:rPr>
              <a:t>时间/情绪触发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395728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B93B8"/>
                </a:solidFill>
                <a:latin typeface="Microsoft YaHei"/>
                <a:ea typeface="Microsoft YaHei"/>
              </a:rPr>
              <a:t>长时间无对话或情绪低落时主动关怀；天气/新闻播报、回忆话题。涉及健康建议时引导就医。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46120"/>
            <a:ext cx="5449824" cy="1463040"/>
          </a:xfrm>
          <a:prstGeom prst="roundRect">
            <a:avLst>
              <a:gd name="adj" fmla="val 8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832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E8EAF6"/>
                </a:solidFill>
                <a:latin typeface="Microsoft YaHei"/>
                <a:ea typeface="Microsoft YaHei"/>
              </a:rPr>
              <a:t>F6 家人健康日报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49039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FB454"/>
                </a:solidFill>
                <a:latin typeface="Microsoft YaHei"/>
                <a:ea typeface="Microsoft YaHei"/>
              </a:rPr>
              <a:t>每日汇总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087368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B93B8"/>
                </a:solidFill>
                <a:latin typeface="Microsoft YaHei"/>
                <a:ea typeface="Microsoft YaHei"/>
              </a:rPr>
              <a:t>每晚 8 点推送给子女：服药情况、出门时段、异常事件；一切正常只发“今天都挺好”。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3246120"/>
            <a:ext cx="5449824" cy="1463040"/>
          </a:xfrm>
          <a:prstGeom prst="roundRect">
            <a:avLst>
              <a:gd name="adj" fmla="val 8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33832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E8EAF6"/>
                </a:solidFill>
                <a:latin typeface="Microsoft YaHei"/>
                <a:ea typeface="Microsoft YaHei"/>
              </a:rPr>
              <a:t>F7 一键紧急求助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3749039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FB454"/>
                </a:solidFill>
                <a:latin typeface="Microsoft YaHei"/>
                <a:ea typeface="Microsoft YaHei"/>
              </a:rPr>
              <a:t>被动响应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4087368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B93B8"/>
                </a:solidFill>
                <a:latin typeface="Microsoft YaHei"/>
                <a:ea typeface="Microsoft YaHei"/>
              </a:rPr>
              <a:t>镜腿长按 3 秒或语音 SOS → 呼叫紧急联系人 + 发送位置。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11091672" cy="1005840"/>
          </a:xfrm>
          <a:prstGeom prst="roundRect">
            <a:avLst>
              <a:gd name="adj" fmla="val 8000"/>
            </a:avLst>
          </a:prstGeom>
          <a:solidFill>
            <a:srgbClr val="151A30"/>
          </a:solidFill>
          <a:ln w="12700">
            <a:solidFill>
              <a:srgbClr val="FF6B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明确不做（反功能）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不做医疗诊断 · 不持续云端录像 · 不识别陌生人面孔 · 不做广告营销打扰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6D8DFF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1945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B454"/>
                </a:solidFill>
                <a:latin typeface="Microsoft YaHei"/>
                <a:ea typeface="Microsoft YaHei"/>
              </a:rPr>
              <a:t>5 核心任务闭环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1206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E8EAF6"/>
                </a:solidFill>
                <a:latin typeface="Microsoft YaHei"/>
                <a:ea typeface="Microsoft YaHei"/>
              </a:rPr>
              <a:t>闭环一 · 记忆找物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1024128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B93B8"/>
                </a:solidFill>
                <a:latin typeface="Microsoft YaHei"/>
                <a:ea typeface="Microsoft YaHei"/>
              </a:rPr>
              <a:t>第一视角记忆：看过即记住，随问随答，找到后复核更新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1984248" cy="173736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① 语音提问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“我的老花镜呢？”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74036" y="2221991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25496" y="1463040"/>
            <a:ext cx="1984248" cy="173736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② 检索记忆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物品-位置-置信度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50892" y="2221991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02352" y="1463040"/>
            <a:ext cx="1984248" cy="173736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③ 语音回答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“在客厅茶几上”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27748" y="2221991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79208" y="1463040"/>
            <a:ext cx="1984248" cy="173736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④ 找到确认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“找到了”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404604" y="2221991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56064" y="1463040"/>
            <a:ext cx="1984248" cy="173736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⑤ 复核更新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记忆置信度刷新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747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B454"/>
                </a:solidFill>
                <a:latin typeface="Microsoft YaHei"/>
                <a:ea typeface="Microsoft YaHei"/>
              </a:rPr>
              <a:t>异常分支 / 边界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86200"/>
            <a:ext cx="5408676" cy="137160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FFB454"/>
                </a:solidFill>
                <a:latin typeface="Microsoft YaHei"/>
                <a:ea typeface="Microsoft YaHei"/>
              </a:rPr>
              <a:t>记忆未命中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FFB454"/>
                </a:solidFill>
                <a:latin typeface="Microsoft YaHei"/>
                <a:ea typeface="Microsoft YaHei"/>
              </a:rPr>
              <a:t>现场视觉扫描高频区域，找到后回写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48755" y="3886200"/>
            <a:ext cx="5408676" cy="137160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FF6B81"/>
                </a:solidFill>
                <a:latin typeface="Microsoft YaHei"/>
                <a:ea typeface="Microsoft YaHei"/>
              </a:rPr>
              <a:t>没有把握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FF6B81"/>
                </a:solidFill>
                <a:latin typeface="Microsoft YaHei"/>
                <a:ea typeface="Microsoft YaHei"/>
              </a:rPr>
              <a:t>明确告知，不编造位置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B93B8"/>
                </a:solidFill>
                <a:latin typeface="Microsoft YaHei"/>
                <a:ea typeface="Microsoft YaHei"/>
              </a:rPr>
              <a:t>闭环价值：感知 → 决策 → 行动 → 反馈 → 记忆沉淀，全链路可回溯。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6D8DFF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1945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B454"/>
                </a:solidFill>
                <a:latin typeface="Microsoft YaHei"/>
                <a:ea typeface="Microsoft YaHei"/>
              </a:rPr>
              <a:t>5 核心任务闭环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1206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E8EAF6"/>
                </a:solidFill>
                <a:latin typeface="Microsoft YaHei"/>
                <a:ea typeface="Microsoft YaHei"/>
              </a:rPr>
              <a:t>闭环二 · 用药提醒（主动 Agent）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1024128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B93B8"/>
                </a:solidFill>
                <a:latin typeface="Microsoft YaHei"/>
                <a:ea typeface="Microsoft YaHei"/>
              </a:rPr>
              <a:t>时间触发 → 主动开口 → 视觉确认 → 健康日志 → 漏服升级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1984248" cy="173736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① 08:00 触发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用药计划到点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74036" y="2221991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25496" y="1463040"/>
            <a:ext cx="1984248" cy="173736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② 主动开口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“该吃降压药了”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50892" y="2221991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02352" y="1463040"/>
            <a:ext cx="1984248" cy="173736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③ 视觉确认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识别到药盒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27748" y="2221991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79208" y="1463040"/>
            <a:ext cx="1984248" cy="173736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④ 确认服药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“吃完了”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404604" y="2221991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56064" y="1463040"/>
            <a:ext cx="1984248" cy="173736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⑤ 写入日志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健康日志+日报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747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B454"/>
                </a:solidFill>
                <a:latin typeface="Microsoft YaHei"/>
                <a:ea typeface="Microsoft YaHei"/>
              </a:rPr>
              <a:t>异常分支 / 边界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86200"/>
            <a:ext cx="5408676" cy="137160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FFB454"/>
                </a:solidFill>
                <a:latin typeface="Microsoft YaHei"/>
                <a:ea typeface="Microsoft YaHei"/>
              </a:rPr>
              <a:t>10 分钟未确认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FFB454"/>
                </a:solidFill>
                <a:latin typeface="Microsoft YaHei"/>
                <a:ea typeface="Microsoft YaHei"/>
              </a:rPr>
              <a:t>震动 + 再次提醒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48755" y="3886200"/>
            <a:ext cx="5408676" cy="137160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FF6B81"/>
                </a:solidFill>
                <a:latin typeface="Microsoft YaHei"/>
                <a:ea typeface="Microsoft YaHei"/>
              </a:rPr>
              <a:t>30 分钟未确认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FF6B81"/>
                </a:solidFill>
                <a:latin typeface="Microsoft YaHei"/>
                <a:ea typeface="Microsoft YaHei"/>
              </a:rPr>
              <a:t>通知子女“可能漏服”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B93B8"/>
                </a:solidFill>
                <a:latin typeface="Microsoft YaHei"/>
                <a:ea typeface="Microsoft YaHei"/>
              </a:rPr>
              <a:t>闭环价值：感知 → 决策 → 行动 → 反馈 → 记忆沉淀，全链路可回溯。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6D8DFF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1945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B454"/>
                </a:solidFill>
                <a:latin typeface="Microsoft YaHei"/>
                <a:ea typeface="Microsoft YaHei"/>
              </a:rPr>
              <a:t>5 核心任务闭环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1206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E8EAF6"/>
                </a:solidFill>
                <a:latin typeface="Microsoft YaHei"/>
                <a:ea typeface="Microsoft YaHei"/>
              </a:rPr>
              <a:t>闭环三 · 出门提醒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1024128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B93B8"/>
                </a:solidFill>
                <a:latin typeface="Microsoft YaHei"/>
                <a:ea typeface="Microsoft YaHei"/>
              </a:rPr>
              <a:t>场景触发 → 天气 API + 室内状态联动 → 确认后状态更新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1984248" cy="173736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① 走向门口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识别出门意图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74036" y="2221991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25496" y="1463040"/>
            <a:ext cx="1984248" cy="173736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② 状态查询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天气 + 灶台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50892" y="2221991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02352" y="1463040"/>
            <a:ext cx="1984248" cy="173736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③ 联动提醒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“带伞，火没关”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27748" y="2221991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79208" y="1463040"/>
            <a:ext cx="1984248" cy="173736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④ 返回关火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“放心出门”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404604" y="2221991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56064" y="1463040"/>
            <a:ext cx="1984248" cy="173736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⑤ 状态更新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记忆刷新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747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B454"/>
                </a:solidFill>
                <a:latin typeface="Microsoft YaHei"/>
                <a:ea typeface="Microsoft YaHei"/>
              </a:rPr>
              <a:t>异常分支 / 边界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86200"/>
            <a:ext cx="5408676" cy="137160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57D9A3"/>
                </a:solidFill>
                <a:latin typeface="Microsoft YaHei"/>
                <a:ea typeface="Microsoft YaHei"/>
              </a:rPr>
              <a:t>再次出门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57D9A3"/>
                </a:solidFill>
                <a:latin typeface="Microsoft YaHei"/>
                <a:ea typeface="Microsoft YaHei"/>
              </a:rPr>
              <a:t>只提醒天气，不重复唠叨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48755" y="3886200"/>
            <a:ext cx="5408676" cy="137160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FFB454"/>
                </a:solidFill>
                <a:latin typeface="Microsoft YaHei"/>
                <a:ea typeface="Microsoft YaHei"/>
              </a:rPr>
              <a:t>30 分钟未归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FFB454"/>
                </a:solidFill>
                <a:latin typeface="Microsoft YaHei"/>
                <a:ea typeface="Microsoft YaHei"/>
              </a:rPr>
              <a:t>家人低打扰通知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B93B8"/>
                </a:solidFill>
                <a:latin typeface="Microsoft YaHei"/>
                <a:ea typeface="Microsoft YaHei"/>
              </a:rPr>
              <a:t>闭环价值：感知 → 决策 → 行动 → 反馈 → 记忆沉淀，全链路可回溯。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6D8DFF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1945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B454"/>
                </a:solidFill>
                <a:latin typeface="Microsoft YaHei"/>
                <a:ea typeface="Microsoft YaHei"/>
              </a:rPr>
              <a:t>5 核心任务闭环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1206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E8EAF6"/>
                </a:solidFill>
                <a:latin typeface="Microsoft YaHei"/>
                <a:ea typeface="Microsoft YaHei"/>
              </a:rPr>
              <a:t>闭环四 · 跌倒检测与求助（安全守护）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1024128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B93B8"/>
                </a:solidFill>
                <a:latin typeface="Microsoft YaHei"/>
                <a:ea typeface="Microsoft YaHei"/>
              </a:rPr>
              <a:t>IMU + 视觉双通道确认，无回应自动联系家人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1984248" cy="173736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① 双通道检测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姿态突变+人形倒地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74036" y="2221991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25496" y="1463040"/>
            <a:ext cx="1984248" cy="173736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② 语音二次确认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“您摔着了吗？”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50892" y="2221991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02352" y="1463040"/>
            <a:ext cx="1984248" cy="173736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③ 有回应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通知家人一条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127748" y="2221991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79208" y="1463040"/>
            <a:ext cx="1984248" cy="173736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④ 无回应 15s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自动呼叫联系人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404604" y="2221991"/>
            <a:ext cx="210312" cy="219456"/>
          </a:xfrm>
          <a:prstGeom prst="rightArrow">
            <a:avLst/>
          </a:prstGeom>
          <a:solidFill>
            <a:srgbClr val="6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56064" y="1463040"/>
            <a:ext cx="1984248" cy="173736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⑤ 事件沉淀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健康日志+误报样本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747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B454"/>
                </a:solidFill>
                <a:latin typeface="Microsoft YaHei"/>
                <a:ea typeface="Microsoft YaHei"/>
              </a:rPr>
              <a:t>异常分支 / 边界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86200"/>
            <a:ext cx="5408676" cy="137160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8B93B8"/>
                </a:solidFill>
                <a:latin typeface="Microsoft YaHei"/>
                <a:ea typeface="Microsoft YaHei"/>
              </a:rPr>
              <a:t>责任边界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8B93B8"/>
                </a:solidFill>
                <a:latin typeface="Microsoft YaHei"/>
                <a:ea typeface="Microsoft YaHei"/>
              </a:rPr>
              <a:t>提醒+通知工具，非医疗设备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48755" y="3886200"/>
            <a:ext cx="5408676" cy="137160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5AB0FF"/>
                </a:solidFill>
                <a:latin typeface="Microsoft YaHei"/>
                <a:ea typeface="Microsoft YaHei"/>
              </a:rPr>
              <a:t>家属联动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5AB0FF"/>
                </a:solidFill>
                <a:latin typeface="Microsoft YaHei"/>
                <a:ea typeface="Microsoft YaHei"/>
              </a:rPr>
              <a:t>附定位 + 第一视角快照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B93B8"/>
                </a:solidFill>
                <a:latin typeface="Microsoft YaHei"/>
                <a:ea typeface="Microsoft YaHei"/>
              </a:rPr>
              <a:t>闭环价值：感知 → 决策 → 行动 → 反馈 → 记忆沉淀，全链路可回溯。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6D8DFF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1945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B454"/>
                </a:solidFill>
                <a:latin typeface="Microsoft YaHei"/>
                <a:ea typeface="Microsoft YaHei"/>
              </a:rPr>
              <a:t>6 Agent 设计 · 原生智能体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1206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E8EAF6"/>
                </a:solidFill>
                <a:latin typeface="Microsoft YaHei"/>
                <a:ea typeface="Microsoft YaHei"/>
              </a:rPr>
              <a:t>主动触发引擎：不是泛问答，而是自主判断“是否值得开口”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145182" cy="2468880"/>
          </a:xfrm>
          <a:prstGeom prst="roundRect">
            <a:avLst>
              <a:gd name="adj" fmla="val 12000"/>
            </a:avLst>
          </a:prstGeom>
          <a:solidFill>
            <a:srgbClr val="1A204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⏰ 时间触发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条件：08:00 用药计划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输出：“该吃降压药了”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优先级 HIGH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5262" y="1463040"/>
            <a:ext cx="2145182" cy="2468880"/>
          </a:xfrm>
          <a:prstGeom prst="roundRect">
            <a:avLst>
              <a:gd name="adj" fmla="val 12000"/>
            </a:avLst>
          </a:prstGeom>
          <a:solidFill>
            <a:srgbClr val="1A204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🚪 场景触发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条件：识别到走向门口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输出：“下雨带伞，火没关”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优先级 HIGH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1884" y="1463040"/>
            <a:ext cx="2145182" cy="2468880"/>
          </a:xfrm>
          <a:prstGeom prst="roundRect">
            <a:avLst>
              <a:gd name="adj" fmla="val 12000"/>
            </a:avLst>
          </a:prstGeom>
          <a:solidFill>
            <a:srgbClr val="1A204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🆘 异常触发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条件：跌倒/久未活动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输出：“您摔着了吗？”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优先级 HIGH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58507" y="1463040"/>
            <a:ext cx="2145182" cy="2468880"/>
          </a:xfrm>
          <a:prstGeom prst="roundRect">
            <a:avLst>
              <a:gd name="adj" fmla="val 12000"/>
            </a:avLst>
          </a:prstGeom>
          <a:solidFill>
            <a:srgbClr val="1A204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💡 记忆触发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条件：重复问同一物品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输出：“您上次问过…”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优先级 MEDIUM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95129" y="1463040"/>
            <a:ext cx="2145182" cy="2468880"/>
          </a:xfrm>
          <a:prstGeom prst="roundRect">
            <a:avLst>
              <a:gd name="adj" fmla="val 12000"/>
            </a:avLst>
          </a:prstGeom>
          <a:solidFill>
            <a:srgbClr val="1A204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💬 情绪触发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条件：语气低沉/久未说话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输出：“出去走走吗？”</a:t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优先级 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60520"/>
            <a:ext cx="11091672" cy="1051560"/>
          </a:xfrm>
          <a:prstGeom prst="roundRect">
            <a:avLst>
              <a:gd name="adj" fmla="val 8000"/>
            </a:avLst>
          </a:prstGeom>
          <a:solidFill>
            <a:srgbClr val="151A3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决策守卫：是否开口 = f(事件价值, 紧急程度, 打扰成本, 当前上下文)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深夜不闲聊 · 跌倒立即触发 · 对话中降级为静默记录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151A30"/>
          </a:solidFill>
          <a:ln w="12700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可靠性兜底：用药时间 / 跌倒等关键触发由系统规则保证（规则+LLM 混合），演示不依赖模型偶然性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6D8DFF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1945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B454"/>
                </a:solidFill>
                <a:latin typeface="Microsoft YaHei"/>
                <a:ea typeface="Microsoft YaHei"/>
              </a:rPr>
              <a:t>6 Agent 设计 · 分层架构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1206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E8EAF6"/>
                </a:solidFill>
                <a:latin typeface="Microsoft YaHei"/>
                <a:ea typeface="Microsoft YaHei"/>
              </a:rPr>
              <a:t>感知 → 情境 → 决策 → 工具 → 反馈 → 记忆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98448"/>
            <a:ext cx="11091672" cy="658368"/>
          </a:xfrm>
          <a:prstGeom prst="roundRect">
            <a:avLst>
              <a:gd name="adj" fmla="val 8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44751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6D8DFF"/>
                </a:solidFill>
                <a:latin typeface="Microsoft YaHei"/>
                <a:ea typeface="Microsoft YaHei"/>
              </a:rPr>
              <a:t>感知层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463039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摄像头帧流（第一视角）· 语音输入 · 场景描述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06440" y="1970531"/>
            <a:ext cx="411480" cy="155448"/>
          </a:xfrm>
          <a:prstGeom prst="downArrow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11091672" cy="658368"/>
          </a:xfrm>
          <a:prstGeom prst="roundRect">
            <a:avLst>
              <a:gd name="adj" fmla="val 8000"/>
            </a:avLst>
          </a:prstGeom>
          <a:solidFill>
            <a:srgbClr val="1A2040"/>
          </a:solidFill>
          <a:ln w="12700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95144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5AB0FF"/>
                </a:solidFill>
                <a:latin typeface="Microsoft YaHei"/>
                <a:ea typeface="Microsoft YaHei"/>
              </a:rPr>
              <a:t>情境引擎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313432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场景 / 人物状态 / 可见物体 / 时间 / 天气上下文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806440" y="2820923"/>
            <a:ext cx="411480" cy="155448"/>
          </a:xfrm>
          <a:prstGeom prst="downArrow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999231"/>
            <a:ext cx="11091672" cy="658368"/>
          </a:xfrm>
          <a:prstGeom prst="roundRect">
            <a:avLst>
              <a:gd name="adj" fmla="val 8000"/>
            </a:avLst>
          </a:prstGeom>
          <a:solidFill>
            <a:srgbClr val="1A2040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145535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B454"/>
                </a:solidFill>
                <a:latin typeface="Microsoft YaHei"/>
                <a:ea typeface="Microsoft YaHei"/>
              </a:rPr>
              <a:t>Agent 核心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3163823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意图理解 · 主动触发引擎 · 决策 · 规则兜底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806440" y="3671315"/>
            <a:ext cx="411480" cy="155448"/>
          </a:xfrm>
          <a:prstGeom prst="downArrow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3849623"/>
            <a:ext cx="11091672" cy="658368"/>
          </a:xfrm>
          <a:prstGeom prst="roundRect">
            <a:avLst>
              <a:gd name="adj" fmla="val 8000"/>
            </a:avLst>
          </a:prstGeom>
          <a:solidFill>
            <a:srgbClr val="1A2040"/>
          </a:solidFill>
          <a:ln w="12700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995927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57D9A3"/>
                </a:solidFill>
                <a:latin typeface="Microsoft YaHei"/>
                <a:ea typeface="Microsoft YaHei"/>
              </a:rPr>
              <a:t>工具层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4014215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记忆检索/更新 · 用药计划 · 天气 · 家人通知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806440" y="4521707"/>
            <a:ext cx="411480" cy="155448"/>
          </a:xfrm>
          <a:prstGeom prst="downArrow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4700015"/>
            <a:ext cx="11091672" cy="658368"/>
          </a:xfrm>
          <a:prstGeom prst="roundRect">
            <a:avLst>
              <a:gd name="adj" fmla="val 8000"/>
            </a:avLst>
          </a:prstGeom>
          <a:solidFill>
            <a:srgbClr val="1A2040"/>
          </a:solidFill>
          <a:ln w="12700">
            <a:solidFill>
              <a:srgbClr val="FF6B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46319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6B81"/>
                </a:solidFill>
                <a:latin typeface="Microsoft YaHei"/>
                <a:ea typeface="Microsoft YaHei"/>
              </a:rPr>
              <a:t>反馈层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4864607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语音反馈（一句话）· 决策轨迹可视化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806440" y="5372099"/>
            <a:ext cx="411480" cy="155448"/>
          </a:xfrm>
          <a:prstGeom prst="downArrow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5550407"/>
            <a:ext cx="11091672" cy="658368"/>
          </a:xfrm>
          <a:prstGeom prst="roundRect">
            <a:avLst>
              <a:gd name="adj" fmla="val 8000"/>
            </a:avLst>
          </a:prstGeom>
          <a:solidFill>
            <a:srgbClr val="1A2040"/>
          </a:solidFill>
          <a:ln w="12700">
            <a:solidFill>
              <a:srgbClr val="8B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696711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8B93B8"/>
                </a:solidFill>
                <a:latin typeface="Microsoft YaHei"/>
                <a:ea typeface="Microsoft YaHei"/>
              </a:rPr>
              <a:t>记忆沉淀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5714999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物品位置 · 健康日志 · 事件 → 本地 JSON 持久化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B454"/>
                </a:solidFill>
                <a:latin typeface="Microsoft YaHei"/>
                <a:ea typeface="Microsoft YaHei"/>
              </a:rPr>
              <a:t>决策全程可回溯 → 隐私审计 + 演示可视化（决策轨迹是“原生智能体”的直接证据）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6D8DFF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1945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B454"/>
                </a:solidFill>
                <a:latin typeface="Microsoft YaHei"/>
                <a:ea typeface="Microsoft YaHei"/>
              </a:rPr>
              <a:t>6 Agent 设计 · 记忆系统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1206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E8EAF6"/>
                </a:solidFill>
                <a:latin typeface="Microsoft YaHei"/>
                <a:ea typeface="Microsoft YaHei"/>
              </a:rPr>
              <a:t>记忆即能力：找物、用药、出门提醒都依赖持续记忆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449824" cy="141732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短期记忆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当前对话、最近交互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463040"/>
            <a:ext cx="5449824" cy="141732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长期记忆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物品-位置（时间戳+置信度）、用药记录、健康事件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08960"/>
            <a:ext cx="5449824" cy="141732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遗忘策略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置信度降权 · 周期性清理 · 支持“忘记这个”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3108960"/>
            <a:ext cx="5449824" cy="141732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家人可见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云端仅同步摘要（服药/出门/异常）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B454"/>
                </a:solidFill>
                <a:latin typeface="Microsoft YaHei"/>
                <a:ea typeface="Microsoft YaHei"/>
              </a:rPr>
              <a:t>隐私设计：本地优先 · 最小必要 · 高价值物品才记忆 · 可查看与删除（前端可点击删除）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B93B8"/>
                </a:solidFill>
                <a:latin typeface="Microsoft YaHei"/>
                <a:ea typeface="Microsoft YaHei"/>
              </a:rPr>
              <a:t>真实版实现：记忆持久化到 app/data/memory.json，刷新不丢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6D8DFF"/>
                </a:solidFill>
                <a:latin typeface="Microsoft YaHei"/>
                <a:ea typeface="Microsoft YaHe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1945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B454"/>
                </a:solidFill>
                <a:latin typeface="Microsoft YaHei"/>
                <a:ea typeface="Microsoft YaHei"/>
              </a:rPr>
              <a:t>7 技术实现 · 真实可用版（app/）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1206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E8EAF6"/>
                </a:solidFill>
                <a:latin typeface="Microsoft YaHei"/>
                <a:ea typeface="Microsoft YaHei"/>
              </a:rPr>
              <a:t>零第三方依赖：Python 标准库 HTTP 服务 + 浏览器前端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91672" cy="658368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17904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6D8DFF"/>
                </a:solidFill>
                <a:latin typeface="Microsoft YaHei"/>
                <a:ea typeface="Microsoft YaHei"/>
              </a:rPr>
              <a:t>服务端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517904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Python 标准库 http.server，零依赖；接口：/api/run、/api/config、/api/state、/api/test 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76272"/>
            <a:ext cx="11091672" cy="658368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22576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6D8DFF"/>
                </a:solidFill>
                <a:latin typeface="Microsoft YaHei"/>
                <a:ea typeface="Microsoft YaHei"/>
              </a:rPr>
              <a:t>LLM 接入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322576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OpenAI 兼容接口：OpenAI / DeepSeek / Moonshot / 通义千问 / 本地 Ollama；支持视觉 + JSON 输出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80944"/>
            <a:ext cx="11091672" cy="658368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2724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6D8DFF"/>
                </a:solidFill>
                <a:latin typeface="Microsoft YaHei"/>
                <a:ea typeface="Microsoft YaHei"/>
              </a:rPr>
              <a:t>视觉感知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127248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摄像头拍照 / 上传照片 → 视觉模型识别场景、人物状态、可见物体；不支持视觉时用手动场景描述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85616"/>
            <a:ext cx="11091672" cy="658368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3192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6D8DFF"/>
                </a:solidFill>
                <a:latin typeface="Microsoft YaHei"/>
                <a:ea typeface="Microsoft YaHei"/>
              </a:rPr>
              <a:t>语音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931920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浏览器 Web Speech API：语音识别输入 + 语音朗读反馈（无需额外 ASR/TTS Key）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90288"/>
            <a:ext cx="11091672" cy="658368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3659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6D8DFF"/>
                </a:solidFill>
                <a:latin typeface="Microsoft YaHei"/>
                <a:ea typeface="Microsoft YaHei"/>
              </a:rPr>
              <a:t>工具层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736592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记忆检索/更新、用药计划、天气（可选 Key）、家人通知（可选 Webhook）真实执行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394960"/>
            <a:ext cx="11091672" cy="658368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541264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6D8DFF"/>
                </a:solidFill>
                <a:latin typeface="Microsoft YaHei"/>
                <a:ea typeface="Microsoft YaHei"/>
              </a:rPr>
              <a:t>记忆持久化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541264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物品位置、健康日志保存到 app/data/memory.json，可查看、可删除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6D8DFF"/>
                </a:solidFill>
                <a:latin typeface="Microsoft YaHei"/>
                <a:ea typeface="Microsoft YaHei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1945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B454"/>
                </a:solidFill>
                <a:latin typeface="Microsoft YaHei"/>
                <a:ea typeface="Microsoft YaHei"/>
              </a:rPr>
              <a:t>7 技术实现 · 系统使用说明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1206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E8EAF6"/>
                </a:solidFill>
                <a:latin typeface="Microsoft YaHei"/>
                <a:ea typeface="Microsoft YaHei"/>
              </a:rPr>
              <a:t>三步启动，浏览器操作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584448" cy="2011680"/>
          </a:xfrm>
          <a:prstGeom prst="roundRect">
            <a:avLst>
              <a:gd name="adj" fmla="val 8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① 启动服务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cd app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py server.py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3584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 i="0">
                <a:solidFill>
                  <a:srgbClr val="8B93B8"/>
                </a:solidFill>
                <a:latin typeface="Microsoft YaHei"/>
                <a:ea typeface="Microsoft YaHei"/>
              </a:rPr>
              <a:t>本机 http://127.0.0.1:8000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59935" y="2423160"/>
            <a:ext cx="237744" cy="274320"/>
          </a:xfrm>
          <a:prstGeom prst="rightArrow">
            <a:avLst/>
          </a:prstGeom>
          <a:solidFill>
            <a:srgbClr val="8B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5968" y="1554480"/>
            <a:ext cx="3584448" cy="2011680"/>
          </a:xfrm>
          <a:prstGeom prst="roundRect">
            <a:avLst>
              <a:gd name="adj" fmla="val 8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② 配置 Key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「配置」页填写 API Key / 模型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保存 → 测试连接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3657600"/>
            <a:ext cx="3584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 i="0">
                <a:solidFill>
                  <a:srgbClr val="8B93B8"/>
                </a:solidFill>
                <a:latin typeface="Microsoft YaHei"/>
                <a:ea typeface="Microsoft YaHei"/>
              </a:rPr>
              <a:t>Key 仅存本机 config.json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27264" y="2423160"/>
            <a:ext cx="237744" cy="274320"/>
          </a:xfrm>
          <a:prstGeom prst="rightArrow">
            <a:avLst/>
          </a:prstGeom>
          <a:solidFill>
            <a:srgbClr val="8B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83296" y="1554480"/>
            <a:ext cx="3584448" cy="2011680"/>
          </a:xfrm>
          <a:prstGeom prst="roundRect">
            <a:avLst>
              <a:gd name="adj" fmla="val 8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③ 使用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摄像头/照片/手动场景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语音或文字输入 → 运行一步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3657600"/>
            <a:ext cx="3584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 i="0">
                <a:solidFill>
                  <a:srgbClr val="8B93B8"/>
                </a:solidFill>
                <a:latin typeface="Microsoft YaHei"/>
                <a:ea typeface="Microsoft YaHei"/>
              </a:rPr>
              <a:t>三个闭环均可操作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434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E8EAF6"/>
                </a:solidFill>
                <a:latin typeface="Microsoft YaHei"/>
                <a:ea typeface="Microsoft YaHei"/>
              </a:rPr>
              <a:t>前端操作台能力：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463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📷 摄像头拍照 / 上传图片（第一视角）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344" y="48463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🎤 浏览器语音输入 + 语音朗读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035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⚡ 快捷场景与快捷指令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53035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⏰ 模拟 08:00 用药时间（演示主动提醒）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607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📋 决策轨迹实时展示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57607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🧠 记忆面板实时更新（可删除）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6D8DFF"/>
                </a:solidFill>
                <a:latin typeface="Microsoft YaHei"/>
                <a:ea typeface="Microsoft YaHei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1945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B454"/>
                </a:solidFill>
                <a:latin typeface="Microsoft YaHei"/>
                <a:ea typeface="Microsoft YaHei"/>
              </a:rPr>
              <a:t>8 数据来源与合规边界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1206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E8EAF6"/>
                </a:solidFill>
                <a:latin typeface="Microsoft YaHei"/>
                <a:ea typeface="Microsoft YaHei"/>
              </a:rPr>
              <a:t>数据授权 · 隐私保护 · 风险提示 · 行业边界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704338" cy="310896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数据来源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用户与家属授权采集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开源/自采模拟数据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演示用剧本数据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4418" y="1554480"/>
            <a:ext cx="2704338" cy="310896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隐私保护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本地优先 · 最小必要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人脸模糊 · 加密存储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可查看、可删除、可撤回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0196" y="1554480"/>
            <a:ext cx="2704338" cy="310896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合规边界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个人信息保护法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采集指示灯 + 知情同意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适老化认证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35974" y="1554480"/>
            <a:ext cx="2704338" cy="3108960"/>
          </a:xfrm>
          <a:prstGeom prst="roundRect">
            <a:avLst>
              <a:gd name="adj" fmla="val 12000"/>
            </a:avLst>
          </a:prstGeom>
          <a:solidFill>
            <a:srgbClr val="151A30"/>
          </a:solidFill>
          <a:ln w="12700">
            <a:solidFill>
              <a:srgbClr val="FF6B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风险声明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不做医疗诊断（提醒工具）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跌倒求助为通知辅助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E8EAF6"/>
                </a:solidFill>
                <a:latin typeface="Microsoft YaHei"/>
                <a:ea typeface="Microsoft YaHei"/>
              </a:rPr>
              <a:t>误报/依赖/误触发有预案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377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B454"/>
                </a:solidFill>
                <a:latin typeface="Microsoft YaHei"/>
                <a:ea typeface="Microsoft YaHei"/>
              </a:rPr>
              <a:t>核心原则：服务的是“提醒与陪伴”，把医疗诊断、急救责任明确挡在边界之外。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8B93B8"/>
                </a:solidFill>
                <a:latin typeface="Microsoft YaHei"/>
                <a:ea typeface="Microsoft YaHei"/>
              </a:rPr>
              <a:t>真实版实现：API Key 仅保存在本机 app/config.json（已 gitignore，不会进入代码仓库）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6D8DFF"/>
                </a:solidFill>
                <a:latin typeface="Microsoft YaHei"/>
                <a:ea typeface="Microsoft YaHei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1945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B454"/>
                </a:solidFill>
                <a:latin typeface="Microsoft YaHei"/>
                <a:ea typeface="Microsoft YaHei"/>
              </a:rPr>
              <a:t>9 Demo 与验证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1206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E8EAF6"/>
                </a:solidFill>
                <a:latin typeface="Microsoft YaHei"/>
                <a:ea typeface="Microsoft YaHei"/>
              </a:rPr>
              <a:t>真实运行演示 + 自动化测试 + 无 Key 兜底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94960" cy="3108960"/>
          </a:xfrm>
          <a:prstGeom prst="roundRect">
            <a:avLst>
              <a:gd name="adj" fmla="val 6000"/>
            </a:avLst>
          </a:prstGeom>
          <a:solidFill>
            <a:srgbClr val="151A3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真实运行演示（app/）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① 摄像头/照片 → 视觉识别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② 三个闭环逐步运行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③ 决策轨迹实时展示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④ 记忆面板实时变化</a:t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00" b="0" i="0">
                <a:solidFill>
                  <a:srgbClr val="E8EAF6"/>
                </a:solidFill>
                <a:latin typeface="Microsoft YaHei"/>
                <a:ea typeface="Microsoft YaHei"/>
              </a:rPr>
              <a:t>浏览器即可复现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468112" cy="3108960"/>
          </a:xfrm>
          <a:prstGeom prst="roundRect">
            <a:avLst>
              <a:gd name="adj" fmla="val 6000"/>
            </a:avLst>
          </a:prstGeom>
          <a:solidFill>
            <a:srgbClr val="0B0E1C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[感知] 08:00 场景=卧室 · 语音=无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[触发] ⏰ 时间触发 · 用药计划（HIGH）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[决策] 动作=remind_medication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[工具] 用药计划 → 降压药（1粒/日）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[反馈] 🔊 王奶奶，该吃降压药了。</a:t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E8EAF6"/>
                </a:solidFill>
                <a:latin typeface="Microsoft YaHei"/>
                <a:ea typeface="Microsoft YaHei"/>
              </a:rPr>
              <a:t>= Agent 决策轨迹（真实执行）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46320"/>
            <a:ext cx="5449824" cy="54864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956048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端到端测试：Mock LLM 模拟服务商：12 项断言全部通过（视觉→决策→工具→记忆）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4846320"/>
            <a:ext cx="5449824" cy="54864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4956048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HTTP 冒烟测试：前端页面、JS 类型、健康检查、无 Key 兜底提示均正常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504688"/>
            <a:ext cx="5449824" cy="54864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614416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无 Key 兜底：未配置 Key 时给出明确引导，不崩溃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5504688"/>
            <a:ext cx="5449824" cy="548640"/>
          </a:xfrm>
          <a:prstGeom prst="roundRect">
            <a:avLst>
              <a:gd name="adj" fmla="val 10000"/>
            </a:avLst>
          </a:prstGeom>
          <a:solidFill>
            <a:srgbClr val="1A2040"/>
          </a:solidFill>
          <a:ln w="12700">
            <a:solidFill>
              <a:srgbClr val="2A31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5614416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概念演示版：web/（浏览器版）与 demo/（Python 版）无需 Key，可作视频兜底材料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6D8DFF"/>
                </a:solidFill>
                <a:latin typeface="Microsoft YaHei"/>
                <a:ea typeface="Microsoft YaHei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1945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B454"/>
                </a:solidFill>
                <a:latin typeface="Microsoft YaHei"/>
                <a:ea typeface="Microsoft YaHei"/>
              </a:rPr>
              <a:t>10 迭代计划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1206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E8EAF6"/>
                </a:solidFill>
                <a:latin typeface="Microsoft YaHei"/>
                <a:ea typeface="Microsoft YaHei"/>
              </a:rPr>
              <a:t>从初赛可运行版本到长期陪伴生态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567178" cy="2468880"/>
          </a:xfrm>
          <a:prstGeom prst="roundRect">
            <a:avLst>
              <a:gd name="adj" fmla="val 12000"/>
            </a:avLst>
          </a:prstGeom>
          <a:solidFill>
            <a:srgbClr val="1A204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V1 · 初赛交付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真实 Agent 版（app/）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找物/用药/出门三闭环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Web 概念演示 + 材料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52394" y="2606040"/>
            <a:ext cx="219456" cy="274320"/>
          </a:xfrm>
          <a:prstGeom prst="rightArrow">
            <a:avLst/>
          </a:prstGeom>
          <a:solidFill>
            <a:srgbClr val="8B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90138" y="1554480"/>
            <a:ext cx="2567178" cy="2468880"/>
          </a:xfrm>
          <a:prstGeom prst="roundRect">
            <a:avLst>
              <a:gd name="adj" fmla="val 12000"/>
            </a:avLst>
          </a:prstGeom>
          <a:solidFill>
            <a:srgbClr val="1A2040"/>
          </a:solidFill>
          <a:ln w="12700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V2 · 安全守护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跌倒检测求助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家人健康日报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心率/血氧体征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93892" y="2606040"/>
            <a:ext cx="219456" cy="274320"/>
          </a:xfrm>
          <a:prstGeom prst="rightArrow">
            <a:avLst/>
          </a:prstGeom>
          <a:solidFill>
            <a:srgbClr val="8B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31636" y="1554480"/>
            <a:ext cx="2567178" cy="2468880"/>
          </a:xfrm>
          <a:prstGeom prst="roundRect">
            <a:avLst>
              <a:gd name="adj" fmla="val 12000"/>
            </a:avLst>
          </a:prstGeom>
          <a:solidFill>
            <a:srgbClr val="1A2040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V3 · 规模服务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方言扩展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社区护工多对多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端侧模型离线化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835390" y="2606040"/>
            <a:ext cx="219456" cy="274320"/>
          </a:xfrm>
          <a:prstGeom prst="rightArrow">
            <a:avLst/>
          </a:prstGeom>
          <a:solidFill>
            <a:srgbClr val="8B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73134" y="1554480"/>
            <a:ext cx="2567178" cy="2468880"/>
          </a:xfrm>
          <a:prstGeom prst="roundRect">
            <a:avLst>
              <a:gd name="adj" fmla="val 12000"/>
            </a:avLst>
          </a:prstGeom>
          <a:solidFill>
            <a:srgbClr val="1A2040"/>
          </a:solidFill>
          <a:ln w="12700">
            <a:solidFill>
              <a:srgbClr val="FF6B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长期 · 生态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可复用模板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智能体商店</a:t>
            </a:r>
          </a:p>
          <a:p>
            <a:pPr algn="ctr">
              <a:lnSpc>
                <a:spcPct val="110000"/>
              </a:lnSpc>
            </a:pPr>
            <a:r>
              <a:rPr sz="1350" b="0" i="0">
                <a:solidFill>
                  <a:srgbClr val="E8EAF6"/>
                </a:solidFill>
                <a:latin typeface="Microsoft YaHei"/>
                <a:ea typeface="Microsoft YaHei"/>
              </a:rPr>
              <a:t>开放工具组件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B454"/>
                </a:solidFill>
                <a:latin typeface="Microsoft YaHei"/>
                <a:ea typeface="Microsoft YaHei"/>
              </a:rPr>
              <a:t>设计原则：先做深一个场景，再做宽多个场景；每一步都保留可演示、可验证的任务闭环。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6D8DFF"/>
                </a:solidFill>
                <a:latin typeface="Microsoft YaHei"/>
                <a:ea typeface="Microsoft YaHei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19456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FFB454"/>
                </a:solidFill>
                <a:latin typeface="Microsoft YaHei"/>
                <a:ea typeface="Microsoft YaHei"/>
              </a:rPr>
              <a:t>10 迭代计划 · 交付物清单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1206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E8EAF6"/>
                </a:solidFill>
                <a:latin typeface="Microsoft YaHei"/>
                <a:ea typeface="Microsoft YaHei"/>
              </a:rPr>
              <a:t>参赛提交材料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92240"/>
            <a:ext cx="11091672" cy="25400"/>
          </a:xfrm>
          <a:prstGeom prst="rect">
            <a:avLst/>
          </a:prstGeom>
          <a:solidFill>
            <a:srgbClr val="2A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49824" cy="731520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57D9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0784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57D9A3"/>
                </a:solidFill>
                <a:latin typeface="Microsoft YaHei"/>
                <a:ea typeface="Microsoft YaHei"/>
              </a:rPr>
              <a:t>真实可用版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700784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app/：零依赖 Agent 应用，接入 AI Key 即用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554480"/>
            <a:ext cx="5449824" cy="731520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5AB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700784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5AB0FF"/>
                </a:solidFill>
                <a:latin typeface="Microsoft YaHei"/>
                <a:ea typeface="Microsoft YaHei"/>
              </a:rPr>
              <a:t>概念演示版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8744" y="1700784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web/ 浏览器版 + demo/ Python 版（无需 Key）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23160"/>
            <a:ext cx="5449824" cy="731520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6D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69464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6D8DFF"/>
                </a:solidFill>
                <a:latin typeface="Microsoft YaHei"/>
                <a:ea typeface="Microsoft YaHei"/>
              </a:rPr>
              <a:t>设计文档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569464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docs/：产品设计方案、演示分镜脚本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2423160"/>
            <a:ext cx="5449824" cy="731520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2569464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FFB454"/>
                </a:solidFill>
                <a:latin typeface="Microsoft YaHei"/>
                <a:ea typeface="Microsoft YaHei"/>
              </a:rPr>
              <a:t>项目说明 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569464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本文件（20 页，文档向）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91839"/>
            <a:ext cx="5449824" cy="731520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FF6B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438144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FF6B81"/>
                </a:solidFill>
                <a:latin typeface="Microsoft YaHei"/>
                <a:ea typeface="Microsoft YaHei"/>
              </a:rPr>
              <a:t>打包与仓库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3438144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zip 提交包 + GitHub 仓库（AIglasses）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291839"/>
            <a:ext cx="5449824" cy="731520"/>
          </a:xfrm>
          <a:prstGeom prst="roundRect">
            <a:avLst>
              <a:gd name="adj" fmla="val 10000"/>
            </a:avLst>
          </a:prstGeom>
          <a:solidFill>
            <a:srgbClr val="151A30"/>
          </a:solidFill>
          <a:ln w="12700">
            <a:solidFill>
              <a:srgbClr val="8B9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3438144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8B93B8"/>
                </a:solidFill>
                <a:latin typeface="Microsoft YaHei"/>
                <a:ea typeface="Microsoft YaHei"/>
              </a:rPr>
              <a:t>验证材料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8744" y="3438144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E8EAF6"/>
                </a:solidFill>
                <a:latin typeface="Microsoft YaHei"/>
                <a:ea typeface="Microsoft YaHei"/>
              </a:rPr>
              <a:t>端到端测试 + 演示视频脚本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5720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1" i="0">
                <a:solidFill>
                  <a:srgbClr val="6D8DFF"/>
                </a:solidFill>
                <a:latin typeface="Microsoft YaHei"/>
                <a:ea typeface="Microsoft YaHei"/>
              </a:rPr>
              <a:t>暖眸——看得见、记得住、靠得住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0" i="0">
                <a:solidFill>
                  <a:srgbClr val="E8EAF6"/>
                </a:solidFill>
                <a:latin typeface="Microsoft YaHei"/>
                <a:ea typeface="Microsoft YaHei"/>
              </a:rPr>
              <a:t>让每一位独居老人，都有一位 24 小时在身边的智能守护者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8B93B8"/>
                </a:solidFill>
                <a:latin typeface="Microsoft YaHei"/>
                <a:ea typeface="Microsoft YaHei"/>
              </a:rPr>
              <a:t>谢谢 · 请各位评委指正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65105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0" i="0">
                <a:solidFill>
                  <a:srgbClr val="8B93B8"/>
                </a:solidFill>
                <a:latin typeface="Microsoft YaHei"/>
                <a:ea typeface="Microsoft YaHei"/>
              </a:rPr>
              <a:t>暖眸 · 居家养老 AI 眼镜智能体 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